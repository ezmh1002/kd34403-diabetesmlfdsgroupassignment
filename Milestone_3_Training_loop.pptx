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type Aubette" charset="1" panose="02000506030000020004"/>
      <p:regular r:id="rId13"/>
    </p:embeddedFont>
    <p:embeddedFont>
      <p:font typeface="Bernier" charset="1" panose="00000500000000000000"/>
      <p:regular r:id="rId14"/>
    </p:embeddedFont>
    <p:embeddedFont>
      <p:font typeface="DM Sans Bold Italics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  <p:embeddedFont>
      <p:font typeface="Garet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7" r="0" b="-773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1094" y="7235895"/>
            <a:ext cx="4008695" cy="4044810"/>
          </a:xfrm>
          <a:custGeom>
            <a:avLst/>
            <a:gdLst/>
            <a:ahLst/>
            <a:cxnLst/>
            <a:rect r="r" b="b" t="t" l="l"/>
            <a:pathLst>
              <a:path h="4044810" w="4008695">
                <a:moveTo>
                  <a:pt x="0" y="0"/>
                </a:moveTo>
                <a:lnTo>
                  <a:pt x="4008695" y="0"/>
                </a:lnTo>
                <a:lnTo>
                  <a:pt x="4008695" y="4044810"/>
                </a:lnTo>
                <a:lnTo>
                  <a:pt x="0" y="4044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0075" y="7772737"/>
            <a:ext cx="3137925" cy="2514263"/>
          </a:xfrm>
          <a:custGeom>
            <a:avLst/>
            <a:gdLst/>
            <a:ahLst/>
            <a:cxnLst/>
            <a:rect r="r" b="b" t="t" l="l"/>
            <a:pathLst>
              <a:path h="2514263" w="3137925">
                <a:moveTo>
                  <a:pt x="0" y="0"/>
                </a:moveTo>
                <a:lnTo>
                  <a:pt x="3137925" y="0"/>
                </a:lnTo>
                <a:lnTo>
                  <a:pt x="3137925" y="2514263"/>
                </a:lnTo>
                <a:lnTo>
                  <a:pt x="0" y="2514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73904" y="3353002"/>
            <a:ext cx="3291840" cy="329184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934180" y="4376634"/>
            <a:ext cx="12419641" cy="155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</a:pPr>
            <a:r>
              <a:rPr lang="en-US" sz="90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group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80926"/>
            <a:ext cx="16216871" cy="143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MIL</a:t>
            </a:r>
            <a:r>
              <a:rPr lang="en-US" sz="8400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ESTONE 3: THE TRAINING LOOP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2441" y="6172714"/>
            <a:ext cx="9863118" cy="19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Training Loop &amp; Baseline Evaluation  Using Random Forest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954" y="223294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kd34403 - machine learning for data science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191625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E9A1EC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Prepared for Prof. Dr. Jason Teo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5565" y="3635935"/>
            <a:ext cx="162168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PIMA INDIANS DIABETES | 768 INSTANCES | 8 FEATURES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602" r="0" b="-221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863" y="400485"/>
            <a:ext cx="6539686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training loop pipeline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6632538" y="812600"/>
            <a:ext cx="1062676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636786" y="2516489"/>
            <a:ext cx="2125335" cy="1026437"/>
            <a:chOff x="0" y="0"/>
            <a:chExt cx="601711" cy="290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1711" cy="290598"/>
            </a:xfrm>
            <a:custGeom>
              <a:avLst/>
              <a:gdLst/>
              <a:ahLst/>
              <a:cxnLst/>
              <a:rect r="r" b="b" t="t" l="l"/>
              <a:pathLst>
                <a:path h="290598" w="601711">
                  <a:moveTo>
                    <a:pt x="43712" y="0"/>
                  </a:moveTo>
                  <a:lnTo>
                    <a:pt x="557999" y="0"/>
                  </a:lnTo>
                  <a:cubicBezTo>
                    <a:pt x="569592" y="0"/>
                    <a:pt x="580711" y="4605"/>
                    <a:pt x="588908" y="12803"/>
                  </a:cubicBezTo>
                  <a:cubicBezTo>
                    <a:pt x="597106" y="21001"/>
                    <a:pt x="601711" y="32119"/>
                    <a:pt x="601711" y="43712"/>
                  </a:cubicBezTo>
                  <a:lnTo>
                    <a:pt x="601711" y="246886"/>
                  </a:lnTo>
                  <a:cubicBezTo>
                    <a:pt x="601711" y="258479"/>
                    <a:pt x="597106" y="269598"/>
                    <a:pt x="588908" y="277795"/>
                  </a:cubicBezTo>
                  <a:cubicBezTo>
                    <a:pt x="580711" y="285993"/>
                    <a:pt x="569592" y="290598"/>
                    <a:pt x="557999" y="290598"/>
                  </a:cubicBezTo>
                  <a:lnTo>
                    <a:pt x="43712" y="290598"/>
                  </a:lnTo>
                  <a:cubicBezTo>
                    <a:pt x="32119" y="290598"/>
                    <a:pt x="21001" y="285993"/>
                    <a:pt x="12803" y="277795"/>
                  </a:cubicBezTo>
                  <a:cubicBezTo>
                    <a:pt x="4605" y="269598"/>
                    <a:pt x="0" y="258479"/>
                    <a:pt x="0" y="246886"/>
                  </a:cubicBezTo>
                  <a:lnTo>
                    <a:pt x="0" y="43712"/>
                  </a:lnTo>
                  <a:cubicBezTo>
                    <a:pt x="0" y="32119"/>
                    <a:pt x="4605" y="21001"/>
                    <a:pt x="12803" y="12803"/>
                  </a:cubicBezTo>
                  <a:cubicBezTo>
                    <a:pt x="21001" y="4605"/>
                    <a:pt x="32119" y="0"/>
                    <a:pt x="43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01711" cy="30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22979" y="3911265"/>
            <a:ext cx="2125335" cy="1026437"/>
            <a:chOff x="0" y="0"/>
            <a:chExt cx="601711" cy="290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711" cy="290598"/>
            </a:xfrm>
            <a:custGeom>
              <a:avLst/>
              <a:gdLst/>
              <a:ahLst/>
              <a:cxnLst/>
              <a:rect r="r" b="b" t="t" l="l"/>
              <a:pathLst>
                <a:path h="290598" w="601711">
                  <a:moveTo>
                    <a:pt x="43712" y="0"/>
                  </a:moveTo>
                  <a:lnTo>
                    <a:pt x="557999" y="0"/>
                  </a:lnTo>
                  <a:cubicBezTo>
                    <a:pt x="569592" y="0"/>
                    <a:pt x="580711" y="4605"/>
                    <a:pt x="588908" y="12803"/>
                  </a:cubicBezTo>
                  <a:cubicBezTo>
                    <a:pt x="597106" y="21001"/>
                    <a:pt x="601711" y="32119"/>
                    <a:pt x="601711" y="43712"/>
                  </a:cubicBezTo>
                  <a:lnTo>
                    <a:pt x="601711" y="246886"/>
                  </a:lnTo>
                  <a:cubicBezTo>
                    <a:pt x="601711" y="258479"/>
                    <a:pt x="597106" y="269598"/>
                    <a:pt x="588908" y="277795"/>
                  </a:cubicBezTo>
                  <a:cubicBezTo>
                    <a:pt x="580711" y="285993"/>
                    <a:pt x="569592" y="290598"/>
                    <a:pt x="557999" y="290598"/>
                  </a:cubicBezTo>
                  <a:lnTo>
                    <a:pt x="43712" y="290598"/>
                  </a:lnTo>
                  <a:cubicBezTo>
                    <a:pt x="32119" y="290598"/>
                    <a:pt x="21001" y="285993"/>
                    <a:pt x="12803" y="277795"/>
                  </a:cubicBezTo>
                  <a:cubicBezTo>
                    <a:pt x="4605" y="269598"/>
                    <a:pt x="0" y="258479"/>
                    <a:pt x="0" y="246886"/>
                  </a:cubicBezTo>
                  <a:lnTo>
                    <a:pt x="0" y="43712"/>
                  </a:lnTo>
                  <a:cubicBezTo>
                    <a:pt x="0" y="32119"/>
                    <a:pt x="4605" y="21001"/>
                    <a:pt x="12803" y="12803"/>
                  </a:cubicBezTo>
                  <a:cubicBezTo>
                    <a:pt x="21001" y="4605"/>
                    <a:pt x="32119" y="0"/>
                    <a:pt x="43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01711" cy="30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36786" y="5276957"/>
            <a:ext cx="2125335" cy="1026437"/>
            <a:chOff x="0" y="0"/>
            <a:chExt cx="601711" cy="2905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1711" cy="290598"/>
            </a:xfrm>
            <a:custGeom>
              <a:avLst/>
              <a:gdLst/>
              <a:ahLst/>
              <a:cxnLst/>
              <a:rect r="r" b="b" t="t" l="l"/>
              <a:pathLst>
                <a:path h="290598" w="601711">
                  <a:moveTo>
                    <a:pt x="43712" y="0"/>
                  </a:moveTo>
                  <a:lnTo>
                    <a:pt x="557999" y="0"/>
                  </a:lnTo>
                  <a:cubicBezTo>
                    <a:pt x="569592" y="0"/>
                    <a:pt x="580711" y="4605"/>
                    <a:pt x="588908" y="12803"/>
                  </a:cubicBezTo>
                  <a:cubicBezTo>
                    <a:pt x="597106" y="21001"/>
                    <a:pt x="601711" y="32119"/>
                    <a:pt x="601711" y="43712"/>
                  </a:cubicBezTo>
                  <a:lnTo>
                    <a:pt x="601711" y="246886"/>
                  </a:lnTo>
                  <a:cubicBezTo>
                    <a:pt x="601711" y="258479"/>
                    <a:pt x="597106" y="269598"/>
                    <a:pt x="588908" y="277795"/>
                  </a:cubicBezTo>
                  <a:cubicBezTo>
                    <a:pt x="580711" y="285993"/>
                    <a:pt x="569592" y="290598"/>
                    <a:pt x="557999" y="290598"/>
                  </a:cubicBezTo>
                  <a:lnTo>
                    <a:pt x="43712" y="290598"/>
                  </a:lnTo>
                  <a:cubicBezTo>
                    <a:pt x="32119" y="290598"/>
                    <a:pt x="21001" y="285993"/>
                    <a:pt x="12803" y="277795"/>
                  </a:cubicBezTo>
                  <a:cubicBezTo>
                    <a:pt x="4605" y="269598"/>
                    <a:pt x="0" y="258479"/>
                    <a:pt x="0" y="246886"/>
                  </a:cubicBezTo>
                  <a:lnTo>
                    <a:pt x="0" y="43712"/>
                  </a:lnTo>
                  <a:cubicBezTo>
                    <a:pt x="0" y="32119"/>
                    <a:pt x="4605" y="21001"/>
                    <a:pt x="12803" y="12803"/>
                  </a:cubicBezTo>
                  <a:cubicBezTo>
                    <a:pt x="21001" y="4605"/>
                    <a:pt x="32119" y="0"/>
                    <a:pt x="43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01711" cy="30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36786" y="6628754"/>
            <a:ext cx="2125335" cy="1026437"/>
            <a:chOff x="0" y="0"/>
            <a:chExt cx="601711" cy="2905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1711" cy="290598"/>
            </a:xfrm>
            <a:custGeom>
              <a:avLst/>
              <a:gdLst/>
              <a:ahLst/>
              <a:cxnLst/>
              <a:rect r="r" b="b" t="t" l="l"/>
              <a:pathLst>
                <a:path h="290598" w="601711">
                  <a:moveTo>
                    <a:pt x="43712" y="0"/>
                  </a:moveTo>
                  <a:lnTo>
                    <a:pt x="557999" y="0"/>
                  </a:lnTo>
                  <a:cubicBezTo>
                    <a:pt x="569592" y="0"/>
                    <a:pt x="580711" y="4605"/>
                    <a:pt x="588908" y="12803"/>
                  </a:cubicBezTo>
                  <a:cubicBezTo>
                    <a:pt x="597106" y="21001"/>
                    <a:pt x="601711" y="32119"/>
                    <a:pt x="601711" y="43712"/>
                  </a:cubicBezTo>
                  <a:lnTo>
                    <a:pt x="601711" y="246886"/>
                  </a:lnTo>
                  <a:cubicBezTo>
                    <a:pt x="601711" y="258479"/>
                    <a:pt x="597106" y="269598"/>
                    <a:pt x="588908" y="277795"/>
                  </a:cubicBezTo>
                  <a:cubicBezTo>
                    <a:pt x="580711" y="285993"/>
                    <a:pt x="569592" y="290598"/>
                    <a:pt x="557999" y="290598"/>
                  </a:cubicBezTo>
                  <a:lnTo>
                    <a:pt x="43712" y="290598"/>
                  </a:lnTo>
                  <a:cubicBezTo>
                    <a:pt x="32119" y="290598"/>
                    <a:pt x="21001" y="285993"/>
                    <a:pt x="12803" y="277795"/>
                  </a:cubicBezTo>
                  <a:cubicBezTo>
                    <a:pt x="4605" y="269598"/>
                    <a:pt x="0" y="258479"/>
                    <a:pt x="0" y="246886"/>
                  </a:cubicBezTo>
                  <a:lnTo>
                    <a:pt x="0" y="43712"/>
                  </a:lnTo>
                  <a:cubicBezTo>
                    <a:pt x="0" y="32119"/>
                    <a:pt x="4605" y="21001"/>
                    <a:pt x="12803" y="12803"/>
                  </a:cubicBezTo>
                  <a:cubicBezTo>
                    <a:pt x="21001" y="4605"/>
                    <a:pt x="32119" y="0"/>
                    <a:pt x="43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01711" cy="30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4696843" y="3578933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4696843" y="4979385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4696843" y="6331183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4285857" y="9378118"/>
            <a:ext cx="799580" cy="7995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0053" y="20053"/>
              <a:ext cx="772694" cy="772694"/>
            </a:xfrm>
            <a:custGeom>
              <a:avLst/>
              <a:gdLst/>
              <a:ahLst/>
              <a:cxnLst/>
              <a:rect r="r" b="b" t="t" l="l"/>
              <a:pathLst>
                <a:path h="772694" w="772694">
                  <a:moveTo>
                    <a:pt x="420580" y="14180"/>
                  </a:moveTo>
                  <a:lnTo>
                    <a:pt x="758514" y="352114"/>
                  </a:lnTo>
                  <a:cubicBezTo>
                    <a:pt x="767593" y="361193"/>
                    <a:pt x="772694" y="373507"/>
                    <a:pt x="772694" y="386347"/>
                  </a:cubicBezTo>
                  <a:cubicBezTo>
                    <a:pt x="772694" y="399187"/>
                    <a:pt x="767593" y="411501"/>
                    <a:pt x="758514" y="420580"/>
                  </a:cubicBezTo>
                  <a:lnTo>
                    <a:pt x="420580" y="758514"/>
                  </a:lnTo>
                  <a:cubicBezTo>
                    <a:pt x="411501" y="767593"/>
                    <a:pt x="399187" y="772694"/>
                    <a:pt x="386347" y="772694"/>
                  </a:cubicBezTo>
                  <a:cubicBezTo>
                    <a:pt x="373507" y="772694"/>
                    <a:pt x="361193" y="767593"/>
                    <a:pt x="352114" y="758514"/>
                  </a:cubicBezTo>
                  <a:lnTo>
                    <a:pt x="14180" y="420580"/>
                  </a:lnTo>
                  <a:cubicBezTo>
                    <a:pt x="5101" y="411501"/>
                    <a:pt x="0" y="399187"/>
                    <a:pt x="0" y="386347"/>
                  </a:cubicBezTo>
                  <a:cubicBezTo>
                    <a:pt x="0" y="373507"/>
                    <a:pt x="5101" y="361193"/>
                    <a:pt x="14180" y="352114"/>
                  </a:cubicBezTo>
                  <a:lnTo>
                    <a:pt x="352114" y="14180"/>
                  </a:lnTo>
                  <a:cubicBezTo>
                    <a:pt x="361193" y="5101"/>
                    <a:pt x="373507" y="0"/>
                    <a:pt x="386347" y="0"/>
                  </a:cubicBezTo>
                  <a:cubicBezTo>
                    <a:pt x="399187" y="0"/>
                    <a:pt x="411501" y="5101"/>
                    <a:pt x="420580" y="14180"/>
                  </a:cubicBezTo>
                  <a:close/>
                </a:path>
              </a:pathLst>
            </a:custGeom>
            <a:solidFill>
              <a:srgbClr val="30CAA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285857" y="1386641"/>
            <a:ext cx="799580" cy="79958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0053" y="20053"/>
              <a:ext cx="772694" cy="772694"/>
            </a:xfrm>
            <a:custGeom>
              <a:avLst/>
              <a:gdLst/>
              <a:ahLst/>
              <a:cxnLst/>
              <a:rect r="r" b="b" t="t" l="l"/>
              <a:pathLst>
                <a:path h="772694" w="772694">
                  <a:moveTo>
                    <a:pt x="420580" y="14180"/>
                  </a:moveTo>
                  <a:lnTo>
                    <a:pt x="758514" y="352114"/>
                  </a:lnTo>
                  <a:cubicBezTo>
                    <a:pt x="767593" y="361193"/>
                    <a:pt x="772694" y="373507"/>
                    <a:pt x="772694" y="386347"/>
                  </a:cubicBezTo>
                  <a:cubicBezTo>
                    <a:pt x="772694" y="399187"/>
                    <a:pt x="767593" y="411501"/>
                    <a:pt x="758514" y="420580"/>
                  </a:cubicBezTo>
                  <a:lnTo>
                    <a:pt x="420580" y="758514"/>
                  </a:lnTo>
                  <a:cubicBezTo>
                    <a:pt x="411501" y="767593"/>
                    <a:pt x="399187" y="772694"/>
                    <a:pt x="386347" y="772694"/>
                  </a:cubicBezTo>
                  <a:cubicBezTo>
                    <a:pt x="373507" y="772694"/>
                    <a:pt x="361193" y="767593"/>
                    <a:pt x="352114" y="758514"/>
                  </a:cubicBezTo>
                  <a:lnTo>
                    <a:pt x="14180" y="420580"/>
                  </a:lnTo>
                  <a:cubicBezTo>
                    <a:pt x="5101" y="411501"/>
                    <a:pt x="0" y="399187"/>
                    <a:pt x="0" y="386347"/>
                  </a:cubicBezTo>
                  <a:cubicBezTo>
                    <a:pt x="0" y="373507"/>
                    <a:pt x="5101" y="361193"/>
                    <a:pt x="14180" y="352114"/>
                  </a:cubicBezTo>
                  <a:lnTo>
                    <a:pt x="352114" y="14180"/>
                  </a:lnTo>
                  <a:cubicBezTo>
                    <a:pt x="361193" y="5101"/>
                    <a:pt x="373507" y="0"/>
                    <a:pt x="386347" y="0"/>
                  </a:cubicBezTo>
                  <a:cubicBezTo>
                    <a:pt x="399187" y="0"/>
                    <a:pt x="411501" y="5101"/>
                    <a:pt x="420580" y="14180"/>
                  </a:cubicBezTo>
                  <a:close/>
                </a:path>
              </a:pathLst>
            </a:custGeom>
            <a:solidFill>
              <a:srgbClr val="30CAA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4671752" y="2248662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3636786" y="8044869"/>
            <a:ext cx="2125335" cy="1026437"/>
            <a:chOff x="0" y="0"/>
            <a:chExt cx="601711" cy="2905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1711" cy="290598"/>
            </a:xfrm>
            <a:custGeom>
              <a:avLst/>
              <a:gdLst/>
              <a:ahLst/>
              <a:cxnLst/>
              <a:rect r="r" b="b" t="t" l="l"/>
              <a:pathLst>
                <a:path h="290598" w="601711">
                  <a:moveTo>
                    <a:pt x="43712" y="0"/>
                  </a:moveTo>
                  <a:lnTo>
                    <a:pt x="557999" y="0"/>
                  </a:lnTo>
                  <a:cubicBezTo>
                    <a:pt x="569592" y="0"/>
                    <a:pt x="580711" y="4605"/>
                    <a:pt x="588908" y="12803"/>
                  </a:cubicBezTo>
                  <a:cubicBezTo>
                    <a:pt x="597106" y="21001"/>
                    <a:pt x="601711" y="32119"/>
                    <a:pt x="601711" y="43712"/>
                  </a:cubicBezTo>
                  <a:lnTo>
                    <a:pt x="601711" y="246886"/>
                  </a:lnTo>
                  <a:cubicBezTo>
                    <a:pt x="601711" y="258479"/>
                    <a:pt x="597106" y="269598"/>
                    <a:pt x="588908" y="277795"/>
                  </a:cubicBezTo>
                  <a:cubicBezTo>
                    <a:pt x="580711" y="285993"/>
                    <a:pt x="569592" y="290598"/>
                    <a:pt x="557999" y="290598"/>
                  </a:cubicBezTo>
                  <a:lnTo>
                    <a:pt x="43712" y="290598"/>
                  </a:lnTo>
                  <a:cubicBezTo>
                    <a:pt x="32119" y="290598"/>
                    <a:pt x="21001" y="285993"/>
                    <a:pt x="12803" y="277795"/>
                  </a:cubicBezTo>
                  <a:cubicBezTo>
                    <a:pt x="4605" y="269598"/>
                    <a:pt x="0" y="258479"/>
                    <a:pt x="0" y="246886"/>
                  </a:cubicBezTo>
                  <a:lnTo>
                    <a:pt x="0" y="43712"/>
                  </a:lnTo>
                  <a:cubicBezTo>
                    <a:pt x="0" y="32119"/>
                    <a:pt x="4605" y="21001"/>
                    <a:pt x="12803" y="12803"/>
                  </a:cubicBezTo>
                  <a:cubicBezTo>
                    <a:pt x="21001" y="4605"/>
                    <a:pt x="32119" y="0"/>
                    <a:pt x="43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01711" cy="30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4696843" y="7766348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4696843" y="9099095"/>
            <a:ext cx="0" cy="21184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graphicFrame>
        <p:nvGraphicFramePr>
          <p:cNvPr name="Table 32" id="32"/>
          <p:cNvGraphicFramePr>
            <a:graphicFrameLocks noGrp="true"/>
          </p:cNvGraphicFramePr>
          <p:nvPr/>
        </p:nvGraphicFramePr>
        <p:xfrm>
          <a:off x="7423522" y="1492691"/>
          <a:ext cx="7315200" cy="8018694"/>
        </p:xfrm>
        <a:graphic>
          <a:graphicData uri="http://schemas.openxmlformats.org/drawingml/2006/table">
            <a:tbl>
              <a:tblPr/>
              <a:tblGrid>
                <a:gridCol w="3674649"/>
                <a:gridCol w="3640551"/>
              </a:tblGrid>
              <a:tr h="8771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b="true" sz="2085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  <a:tr h="1465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Load Cleaned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00"/>
                        </a:lnSpc>
                        <a:defRPr/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768 samples, 8 Features</a:t>
                      </a:r>
                      <a:endParaRPr lang="en-US" sz="1100"/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 0: 500 (65%)</a:t>
                      </a:r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 1: 268 (35%)</a:t>
                      </a:r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  <a:tr h="1465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Stratified 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00"/>
                        </a:lnSpc>
                        <a:defRPr/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Train: 537 (70%)</a:t>
                      </a:r>
                      <a:endParaRPr lang="en-US" sz="1100"/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Val: 115 (15%)</a:t>
                      </a:r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Test: 116 (15%)</a:t>
                      </a:r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  <a:tr h="14073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Feature Scaling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00"/>
                        </a:lnSpc>
                        <a:defRPr/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Fitted on training set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  <a:tr h="14018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Train random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00"/>
                        </a:lnSpc>
                        <a:defRPr/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Tested 7 Configs </a:t>
                      </a:r>
                      <a:endParaRPr lang="en-US" sz="1100"/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→ 200 trees</a:t>
                      </a:r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  <a:tr h="14018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20"/>
                        </a:lnSpc>
                        <a:defRPr/>
                      </a:pPr>
                      <a:r>
                        <a:rPr lang="en-US" sz="2085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Results &amp;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00"/>
                        </a:lnSpc>
                        <a:defRPr/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Compare metrics &amp;</a:t>
                      </a:r>
                      <a:endParaRPr lang="en-US" sz="1100"/>
                    </a:p>
                    <a:p>
                      <a:pPr algn="l">
                        <a:lnSpc>
                          <a:spcPts val="2500"/>
                        </a:lnSpc>
                      </a:pPr>
                      <a:r>
                        <a:rPr lang="en-US" sz="1785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conclude the results</a:t>
                      </a:r>
                    </a:p>
                  </a:txBody>
                  <a:tcPr marL="190500" marR="190500" marT="190500" marB="190500" anchor="ctr">
                    <a:lnL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7FF"/>
                    </a:solidFill>
                  </a:tcPr>
                </a:tc>
              </a:tr>
            </a:tbl>
          </a:graphicData>
        </a:graphic>
      </p:graphicFrame>
      <p:sp>
        <p:nvSpPr>
          <p:cNvPr name="Freeform 33" id="33"/>
          <p:cNvSpPr/>
          <p:nvPr/>
        </p:nvSpPr>
        <p:spPr>
          <a:xfrm flipH="false" flipV="false" rot="0">
            <a:off x="-975648" y="7355713"/>
            <a:ext cx="4008695" cy="4044810"/>
          </a:xfrm>
          <a:custGeom>
            <a:avLst/>
            <a:gdLst/>
            <a:ahLst/>
            <a:cxnLst/>
            <a:rect r="r" b="b" t="t" l="l"/>
            <a:pathLst>
              <a:path h="4044810" w="4008695">
                <a:moveTo>
                  <a:pt x="0" y="0"/>
                </a:moveTo>
                <a:lnTo>
                  <a:pt x="4008696" y="0"/>
                </a:lnTo>
                <a:lnTo>
                  <a:pt x="4008696" y="4044810"/>
                </a:lnTo>
                <a:lnTo>
                  <a:pt x="0" y="4044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150075" y="7772737"/>
            <a:ext cx="3137925" cy="2514263"/>
          </a:xfrm>
          <a:custGeom>
            <a:avLst/>
            <a:gdLst/>
            <a:ahLst/>
            <a:cxnLst/>
            <a:rect r="r" b="b" t="t" l="l"/>
            <a:pathLst>
              <a:path h="2514263" w="3137925">
                <a:moveTo>
                  <a:pt x="0" y="0"/>
                </a:moveTo>
                <a:lnTo>
                  <a:pt x="3137925" y="0"/>
                </a:lnTo>
                <a:lnTo>
                  <a:pt x="3137925" y="2514263"/>
                </a:lnTo>
                <a:lnTo>
                  <a:pt x="0" y="2514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4929393" y="971660"/>
            <a:ext cx="3291840" cy="3291840"/>
            <a:chOff x="0" y="0"/>
            <a:chExt cx="6350000" cy="6350000"/>
          </a:xfrm>
        </p:grpSpPr>
        <p:sp>
          <p:nvSpPr>
            <p:cNvPr name="Freeform 36" id="3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812650" y="2722973"/>
            <a:ext cx="1745993" cy="58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b="true" sz="16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Load Cleaned 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685191" y="4276391"/>
            <a:ext cx="2000911" cy="29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b="true" sz="16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Stratified Split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26485" y="5494276"/>
            <a:ext cx="1740715" cy="58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b="true" sz="16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Feature Scaling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27502" y="6835239"/>
            <a:ext cx="1688676" cy="58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b="true" sz="16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Train Random Forest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300562" y="9630409"/>
            <a:ext cx="743510" cy="25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  <a:spcBef>
                <a:spcPct val="0"/>
              </a:spcBef>
            </a:pPr>
            <a:r>
              <a:rPr lang="en-US" b="true" sz="153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0562" y="1638931"/>
            <a:ext cx="743510" cy="25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  <a:spcBef>
                <a:spcPct val="0"/>
              </a:spcBef>
            </a:pPr>
            <a:r>
              <a:rPr lang="en-US" b="true" sz="153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START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63694" y="8251354"/>
            <a:ext cx="1740715" cy="58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677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Results &amp;</a:t>
            </a:r>
          </a:p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b="true" sz="16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Metrics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602" r="0" b="-22174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445575" y="812600"/>
            <a:ext cx="108137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95400" y="1353798"/>
          <a:ext cx="8351875" cy="8639006"/>
        </p:xfrm>
        <a:graphic>
          <a:graphicData uri="http://schemas.openxmlformats.org/drawingml/2006/table">
            <a:tbl>
              <a:tblPr/>
              <a:tblGrid>
                <a:gridCol w="1443427"/>
                <a:gridCol w="2302816"/>
                <a:gridCol w="2302816"/>
                <a:gridCol w="2302816"/>
              </a:tblGrid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Trees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Train Acc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Val Acc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Val Recall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98.3%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72.2%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9631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25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99.6%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73.9%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55.0%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50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73.9%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75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47.5%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100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45.0%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150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85" strike="noStrike" u="non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200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5" strike="noStrike" u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52.5%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0009963" y="1353798"/>
            <a:ext cx="6538325" cy="4352314"/>
          </a:xfrm>
          <a:custGeom>
            <a:avLst/>
            <a:gdLst/>
            <a:ahLst/>
            <a:cxnLst/>
            <a:rect r="r" b="b" t="t" l="l"/>
            <a:pathLst>
              <a:path h="4352314" w="6538325">
                <a:moveTo>
                  <a:pt x="0" y="0"/>
                </a:moveTo>
                <a:lnTo>
                  <a:pt x="6538325" y="0"/>
                </a:lnTo>
                <a:lnTo>
                  <a:pt x="6538325" y="4352314"/>
                </a:lnTo>
                <a:lnTo>
                  <a:pt x="0" y="4352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38" t="-12156" r="0" b="-622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009963" y="5706112"/>
            <a:ext cx="6538325" cy="4286691"/>
          </a:xfrm>
          <a:custGeom>
            <a:avLst/>
            <a:gdLst/>
            <a:ahLst/>
            <a:cxnLst/>
            <a:rect r="r" b="b" t="t" l="l"/>
            <a:pathLst>
              <a:path h="4286691" w="6538325">
                <a:moveTo>
                  <a:pt x="0" y="0"/>
                </a:moveTo>
                <a:lnTo>
                  <a:pt x="6538325" y="0"/>
                </a:lnTo>
                <a:lnTo>
                  <a:pt x="6538325" y="4286692"/>
                </a:lnTo>
                <a:lnTo>
                  <a:pt x="0" y="4286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58" r="-99195" b="-61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63945" y="1353798"/>
            <a:ext cx="6230361" cy="8639006"/>
          </a:xfrm>
          <a:custGeom>
            <a:avLst/>
            <a:gdLst/>
            <a:ahLst/>
            <a:cxnLst/>
            <a:rect r="r" b="b" t="t" l="l"/>
            <a:pathLst>
              <a:path h="8639006" w="6230361">
                <a:moveTo>
                  <a:pt x="0" y="0"/>
                </a:moveTo>
                <a:lnTo>
                  <a:pt x="6230361" y="0"/>
                </a:lnTo>
                <a:lnTo>
                  <a:pt x="6230361" y="8639006"/>
                </a:lnTo>
                <a:lnTo>
                  <a:pt x="0" y="863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6067511" y="0"/>
            <a:ext cx="2220489" cy="2279820"/>
            <a:chOff x="0" y="0"/>
            <a:chExt cx="6350000" cy="6519668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6350000" cy="6519668"/>
            </a:xfrm>
            <a:custGeom>
              <a:avLst/>
              <a:gdLst/>
              <a:ahLst/>
              <a:cxnLst/>
              <a:rect r="r" b="b" t="t" l="l"/>
              <a:pathLst>
                <a:path h="6519668" w="6350000">
                  <a:moveTo>
                    <a:pt x="3175000" y="0"/>
                  </a:moveTo>
                  <a:cubicBezTo>
                    <a:pt x="4928504" y="0"/>
                    <a:pt x="6350000" y="1459477"/>
                    <a:pt x="6350000" y="3259834"/>
                  </a:cubicBezTo>
                  <a:cubicBezTo>
                    <a:pt x="6350000" y="5060191"/>
                    <a:pt x="4928504" y="6519668"/>
                    <a:pt x="3175000" y="6519668"/>
                  </a:cubicBezTo>
                  <a:cubicBezTo>
                    <a:pt x="1421496" y="6519668"/>
                    <a:pt x="0" y="5060191"/>
                    <a:pt x="0" y="3259834"/>
                  </a:cubicBezTo>
                  <a:cubicBezTo>
                    <a:pt x="0" y="1459477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41263" t="0" r="-4126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9863" y="400485"/>
            <a:ext cx="535672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training progress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602" r="0" b="-22174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445575" y="812600"/>
            <a:ext cx="108137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04925" y="1353798"/>
          <a:ext cx="8351875" cy="8639006"/>
        </p:xfrm>
        <a:graphic>
          <a:graphicData uri="http://schemas.openxmlformats.org/drawingml/2006/table">
            <a:tbl>
              <a:tblPr/>
              <a:tblGrid>
                <a:gridCol w="1443427"/>
                <a:gridCol w="2302816"/>
                <a:gridCol w="2302816"/>
                <a:gridCol w="2302816"/>
              </a:tblGrid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Trees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Train Acc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Val Acc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Val Recall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98.3%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72.2%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96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25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99.6%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73.9%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2"/>
                        </a:lnSpc>
                        <a:defRPr/>
                      </a:pPr>
                      <a:r>
                        <a:rPr lang="en-US" b="true" sz="1937" i="true">
                          <a:solidFill>
                            <a:srgbClr val="000000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55.0%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50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73.9%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75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47.5%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100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45.0%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150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71.3%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1077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200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100.0%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52.5%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0019488" y="1353798"/>
            <a:ext cx="6538325" cy="4352314"/>
          </a:xfrm>
          <a:custGeom>
            <a:avLst/>
            <a:gdLst/>
            <a:ahLst/>
            <a:cxnLst/>
            <a:rect r="r" b="b" t="t" l="l"/>
            <a:pathLst>
              <a:path h="4352314" w="6538325">
                <a:moveTo>
                  <a:pt x="0" y="0"/>
                </a:moveTo>
                <a:lnTo>
                  <a:pt x="6538325" y="0"/>
                </a:lnTo>
                <a:lnTo>
                  <a:pt x="6538325" y="4352314"/>
                </a:lnTo>
                <a:lnTo>
                  <a:pt x="0" y="4352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38" t="-12156" r="0" b="-62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19488" y="5706112"/>
            <a:ext cx="6538325" cy="4286691"/>
          </a:xfrm>
          <a:custGeom>
            <a:avLst/>
            <a:gdLst/>
            <a:ahLst/>
            <a:cxnLst/>
            <a:rect r="r" b="b" t="t" l="l"/>
            <a:pathLst>
              <a:path h="4286691" w="6538325">
                <a:moveTo>
                  <a:pt x="0" y="0"/>
                </a:moveTo>
                <a:lnTo>
                  <a:pt x="6538325" y="0"/>
                </a:lnTo>
                <a:lnTo>
                  <a:pt x="6538325" y="4286692"/>
                </a:lnTo>
                <a:lnTo>
                  <a:pt x="0" y="4286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58" r="-99195" b="-61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138991"/>
            <a:ext cx="3291840" cy="329184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09863" y="400485"/>
            <a:ext cx="535672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training progress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445575" y="812600"/>
            <a:ext cx="108137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935776" y="1322234"/>
            <a:ext cx="6196266" cy="8691121"/>
            <a:chOff x="0" y="0"/>
            <a:chExt cx="8261688" cy="115881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5841898"/>
              <a:ext cx="8261688" cy="5746263"/>
            </a:xfrm>
            <a:custGeom>
              <a:avLst/>
              <a:gdLst/>
              <a:ahLst/>
              <a:cxnLst/>
              <a:rect r="r" b="b" t="t" l="l"/>
              <a:pathLst>
                <a:path h="5746263" w="8261688">
                  <a:moveTo>
                    <a:pt x="0" y="0"/>
                  </a:moveTo>
                  <a:lnTo>
                    <a:pt x="8261688" y="0"/>
                  </a:lnTo>
                  <a:lnTo>
                    <a:pt x="8261688" y="5746263"/>
                  </a:lnTo>
                  <a:lnTo>
                    <a:pt x="0" y="5746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6842" t="-10033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61924"/>
              <a:ext cx="8261688" cy="5594010"/>
            </a:xfrm>
            <a:custGeom>
              <a:avLst/>
              <a:gdLst/>
              <a:ahLst/>
              <a:cxnLst/>
              <a:rect r="r" b="b" t="t" l="l"/>
              <a:pathLst>
                <a:path h="5594010" w="8261688">
                  <a:moveTo>
                    <a:pt x="0" y="0"/>
                  </a:moveTo>
                  <a:lnTo>
                    <a:pt x="8261688" y="0"/>
                  </a:lnTo>
                  <a:lnTo>
                    <a:pt x="8261688" y="5594010"/>
                  </a:lnTo>
                  <a:lnTo>
                    <a:pt x="0" y="559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146" r="-10156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61688" cy="319785"/>
            </a:xfrm>
            <a:custGeom>
              <a:avLst/>
              <a:gdLst/>
              <a:ahLst/>
              <a:cxnLst/>
              <a:rect r="r" b="b" t="t" l="l"/>
              <a:pathLst>
                <a:path h="319785" w="8261688">
                  <a:moveTo>
                    <a:pt x="0" y="0"/>
                  </a:moveTo>
                  <a:lnTo>
                    <a:pt x="8261688" y="0"/>
                  </a:lnTo>
                  <a:lnTo>
                    <a:pt x="8261688" y="319785"/>
                  </a:lnTo>
                  <a:lnTo>
                    <a:pt x="0" y="31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226" t="0" r="-40070" b="-1690368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029700" y="1322234"/>
          <a:ext cx="6982513" cy="5007839"/>
        </p:xfrm>
        <a:graphic>
          <a:graphicData uri="http://schemas.openxmlformats.org/drawingml/2006/table">
            <a:tbl>
              <a:tblPr/>
              <a:tblGrid>
                <a:gridCol w="3675259"/>
                <a:gridCol w="3307253"/>
              </a:tblGrid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Best Model 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25 Trees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Accuracy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73.9%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Recall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55.0%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Precision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64.7%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F1-Score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59.5%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834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6"/>
                        </a:lnSpc>
                        <a:defRPr/>
                      </a:pPr>
                      <a:r>
                        <a:rPr lang="en-US" sz="18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ROC AUC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6"/>
                        </a:lnSpc>
                        <a:defRPr/>
                      </a:pPr>
                      <a:r>
                        <a:rPr lang="en-US" sz="1547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81.6%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9029700" y="6324034"/>
            <a:ext cx="6982513" cy="3689321"/>
          </a:xfrm>
          <a:custGeom>
            <a:avLst/>
            <a:gdLst/>
            <a:ahLst/>
            <a:cxnLst/>
            <a:rect r="r" b="b" t="t" l="l"/>
            <a:pathLst>
              <a:path h="3689321" w="6982513">
                <a:moveTo>
                  <a:pt x="0" y="0"/>
                </a:moveTo>
                <a:lnTo>
                  <a:pt x="6982513" y="0"/>
                </a:lnTo>
                <a:lnTo>
                  <a:pt x="6982513" y="3689321"/>
                </a:lnTo>
                <a:lnTo>
                  <a:pt x="0" y="3689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02" r="0" b="-352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7732" y="3826154"/>
            <a:ext cx="2063508" cy="2362796"/>
          </a:xfrm>
          <a:custGeom>
            <a:avLst/>
            <a:gdLst/>
            <a:ahLst/>
            <a:cxnLst/>
            <a:rect r="r" b="b" t="t" l="l"/>
            <a:pathLst>
              <a:path h="2362796" w="2063508">
                <a:moveTo>
                  <a:pt x="0" y="0"/>
                </a:moveTo>
                <a:lnTo>
                  <a:pt x="2063508" y="0"/>
                </a:lnTo>
                <a:lnTo>
                  <a:pt x="2063508" y="2362795"/>
                </a:lnTo>
                <a:lnTo>
                  <a:pt x="0" y="2362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996160" y="6721515"/>
            <a:ext cx="3291840" cy="329184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6"/>
              <a:stretch>
                <a:fillRect l="-38888" t="0" r="-3888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9863" y="400485"/>
            <a:ext cx="535672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best model results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445575" y="812600"/>
            <a:ext cx="108137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6280" y="2090210"/>
            <a:ext cx="11318589" cy="6692116"/>
          </a:xfrm>
          <a:custGeom>
            <a:avLst/>
            <a:gdLst/>
            <a:ahLst/>
            <a:cxnLst/>
            <a:rect r="r" b="b" t="t" l="l"/>
            <a:pathLst>
              <a:path h="6692116" w="11318589">
                <a:moveTo>
                  <a:pt x="0" y="0"/>
                </a:moveTo>
                <a:lnTo>
                  <a:pt x="11318589" y="0"/>
                </a:lnTo>
                <a:lnTo>
                  <a:pt x="11318589" y="6692115"/>
                </a:lnTo>
                <a:lnTo>
                  <a:pt x="0" y="669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95309" y="3019119"/>
          <a:ext cx="4863991" cy="4834296"/>
        </p:xfrm>
        <a:graphic>
          <a:graphicData uri="http://schemas.openxmlformats.org/drawingml/2006/table">
            <a:tbl>
              <a:tblPr/>
              <a:tblGrid>
                <a:gridCol w="2639235"/>
                <a:gridCol w="2224756"/>
              </a:tblGrid>
              <a:tr h="1087711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4396"/>
                        </a:lnSpc>
                        <a:defRPr/>
                      </a:pPr>
                      <a:r>
                        <a:rPr lang="en-US" sz="31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Key Findings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396"/>
                        </a:lnSpc>
                        <a:defRPr/>
                      </a:pPr>
                      <a:r>
                        <a:rPr lang="en-US" sz="314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Key Findings</a:t>
                      </a:r>
                      <a:endParaRPr lang="en-US" sz="1100"/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243262">
                <a:tc rowSpan="5" gridSpan="2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rowSpan="5" hMerge="true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243262">
                <a:tc vMerge="true" gridSpan="2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243262">
                <a:tc vMerge="true" gridSpan="2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243262">
                <a:tc vMerge="true" gridSpan="2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  <a:tr h="2773536">
                <a:tc vMerge="true" gridSpan="2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Glucose is #1 Predictor (26.3%)</a:t>
                      </a:r>
                      <a:endParaRPr lang="en-US" sz="1100"/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BMI (14.1%) &amp; Age (14.0%) are close behind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Top 4 Features account for 67% of model decisions</a:t>
                      </a:r>
                    </a:p>
                    <a:p>
                      <a:pPr algn="l">
                        <a:lnSpc>
                          <a:spcPts val="2296"/>
                        </a:lnSpc>
                      </a:pPr>
                    </a:p>
                    <a:p>
                      <a:pPr algn="l" marL="354104" indent="-177052" lvl="1">
                        <a:lnSpc>
                          <a:spcPts val="2296"/>
                        </a:lnSpc>
                        <a:buFont typeface="Arial"/>
                        <a:buChar char="•"/>
                      </a:pPr>
                      <a:r>
                        <a:rPr lang="en-US" b="true" sz="164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Insulin (7.8%) &amp; Skin (6.9%) are lowest</a:t>
                      </a:r>
                    </a:p>
                  </a:txBody>
                  <a:tcPr marL="185878" marR="185878" marT="185878" marB="185878" anchor="ctr">
                    <a:lnL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39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FFF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2457508" y="964728"/>
            <a:ext cx="2186013" cy="1911789"/>
          </a:xfrm>
          <a:custGeom>
            <a:avLst/>
            <a:gdLst/>
            <a:ahLst/>
            <a:cxnLst/>
            <a:rect r="r" b="b" t="t" l="l"/>
            <a:pathLst>
              <a:path h="1911789" w="2186013">
                <a:moveTo>
                  <a:pt x="0" y="0"/>
                </a:moveTo>
                <a:lnTo>
                  <a:pt x="2186013" y="0"/>
                </a:lnTo>
                <a:lnTo>
                  <a:pt x="2186013" y="1911789"/>
                </a:lnTo>
                <a:lnTo>
                  <a:pt x="0" y="1911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411483" y="0"/>
            <a:ext cx="2876517" cy="2876517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09863" y="400485"/>
            <a:ext cx="535672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feature importance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9536" y="1806789"/>
            <a:ext cx="7927785" cy="8956043"/>
          </a:xfrm>
          <a:custGeom>
            <a:avLst/>
            <a:gdLst/>
            <a:ahLst/>
            <a:cxnLst/>
            <a:rect r="r" b="b" t="t" l="l"/>
            <a:pathLst>
              <a:path h="8956043" w="7927785">
                <a:moveTo>
                  <a:pt x="0" y="0"/>
                </a:moveTo>
                <a:lnTo>
                  <a:pt x="7927786" y="0"/>
                </a:lnTo>
                <a:lnTo>
                  <a:pt x="7927786" y="8956042"/>
                </a:lnTo>
                <a:lnTo>
                  <a:pt x="0" y="8956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15097"/>
            <a:ext cx="3291840" cy="329184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7428" y="4283749"/>
            <a:ext cx="9922108" cy="217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7"/>
              </a:lnSpc>
            </a:pPr>
            <a:r>
              <a:rPr lang="en-US" sz="12776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8551" y="7181475"/>
            <a:ext cx="51493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Tha</a:t>
            </a: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nk you for your attention.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DAHIPVWKJ5Q</dc:identifier>
  <dcterms:modified xsi:type="dcterms:W3CDTF">2011-08-01T06:04:30Z</dcterms:modified>
  <cp:revision>1</cp:revision>
  <dc:title>Purple Dynamic Cyber Security Presentation</dc:title>
</cp:coreProperties>
</file>